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eb9b61b6264ba1" /><Relationship Type="http://schemas.openxmlformats.org/officeDocument/2006/relationships/extended-properties" Target="/docProps/app.xml" Id="R440a22de6dc1469a" /><Relationship Type="http://schemas.openxmlformats.org/officeDocument/2006/relationships/officeDocument" Target="/ppt/presentation.xml" Id="R93b0b998158e47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fa698ad6a94489"/>
  </p:sldMasterIdLst>
  <p:notesMasterIdLst>
    <p:notesMasterId xmlns:r="http://schemas.openxmlformats.org/officeDocument/2006/relationships" r:id="R80728599154544db"/>
  </p:notesMasterIdLst>
  <p:sldIdLst>
    <p:sldId xmlns:r="http://schemas.openxmlformats.org/officeDocument/2006/relationships" id="256" r:id="Ra56bf5b3455a472d"/>
    <p:sldId xmlns:r="http://schemas.openxmlformats.org/officeDocument/2006/relationships" id="257" r:id="R5b5367f7617049a6"/>
    <p:sldId xmlns:r="http://schemas.openxmlformats.org/officeDocument/2006/relationships" id="258" r:id="Rd80174e9b9f74892"/>
    <p:sldId xmlns:r="http://schemas.openxmlformats.org/officeDocument/2006/relationships" id="259" r:id="R6c05dad5e2314d2f"/>
    <p:sldId xmlns:r="http://schemas.openxmlformats.org/officeDocument/2006/relationships" id="260" r:id="R98205cf5a4674627"/>
    <p:sldId xmlns:r="http://schemas.openxmlformats.org/officeDocument/2006/relationships" id="261" r:id="R604935b5a5f54c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9fd43b2ab84adb" /><Relationship Type="http://schemas.openxmlformats.org/officeDocument/2006/relationships/slideMaster" Target="/ppt/slideMasters/slideMaster1.xml" Id="Rb8fa698ad6a94489" /><Relationship Type="http://schemas.openxmlformats.org/officeDocument/2006/relationships/notesMaster" Target="/ppt/notesMasters/notesMaster1.xml" Id="R80728599154544db" /><Relationship Type="http://schemas.openxmlformats.org/officeDocument/2006/relationships/presProps" Target="/ppt/presProps.xml" Id="R3d08b483f6834aba" /><Relationship Type="http://schemas.openxmlformats.org/officeDocument/2006/relationships/tableStyles" Target="/ppt/tableStyles.xml" Id="R42f758265c10454b" /><Relationship Type="http://schemas.openxmlformats.org/officeDocument/2006/relationships/slide" Target="/ppt/slides/slide1.xml" Id="Ra56bf5b3455a472d" /><Relationship Type="http://schemas.openxmlformats.org/officeDocument/2006/relationships/slide" Target="/ppt/slides/slide2.xml" Id="R5b5367f7617049a6" /><Relationship Type="http://schemas.openxmlformats.org/officeDocument/2006/relationships/slide" Target="/ppt/slides/slide3.xml" Id="Rd80174e9b9f74892" /><Relationship Type="http://schemas.openxmlformats.org/officeDocument/2006/relationships/slide" Target="/ppt/slides/slide4.xml" Id="R6c05dad5e2314d2f" /><Relationship Type="http://schemas.openxmlformats.org/officeDocument/2006/relationships/slide" Target="/ppt/slides/slide5.xml" Id="R98205cf5a4674627" /><Relationship Type="http://schemas.openxmlformats.org/officeDocument/2006/relationships/slide" Target="/ppt/slides/slide6.xml" Id="R604935b5a5f54c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dc60057cf747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47b142746441f5" /><Relationship Type="http://schemas.openxmlformats.org/officeDocument/2006/relationships/notesMaster" Target="/ppt/notesMasters/notesMaster1.xml" Id="Re2d4963c99e44a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404bcfe107416d" /><Relationship Type="http://schemas.openxmlformats.org/officeDocument/2006/relationships/notesMaster" Target="/ppt/notesMasters/notesMaster1.xml" Id="Rb20addac39e242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bfec20b0674d99" /><Relationship Type="http://schemas.openxmlformats.org/officeDocument/2006/relationships/notesMaster" Target="/ppt/notesMasters/notesMaster1.xml" Id="R5b7a4db9361d4a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2d93cb0dfe4d44" /><Relationship Type="http://schemas.openxmlformats.org/officeDocument/2006/relationships/notesMaster" Target="/ppt/notesMasters/notesMaster1.xml" Id="Re6ba3c74de044e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9fe9d383a14de2" /><Relationship Type="http://schemas.openxmlformats.org/officeDocument/2006/relationships/notesMaster" Target="/ppt/notesMasters/notesMaster1.xml" Id="Re1d78a30d30149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d5938483ab41cb" /><Relationship Type="http://schemas.openxmlformats.org/officeDocument/2006/relationships/notesMaster" Target="/ppt/notesMasters/notesMaster1.xml" Id="R14d792c89c4748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Track E2, Bengaluru Tech Week Buildathon, 6 September2026. Source: BUILDATHON.md and verified reports in pact/docs/evidence. PACT is independent of Pact Foundation.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seeded D1 changes can_access but not export_document. The feature allows guest public preview; overbroad helper also allows guest export. Source: pact-D0/D1/D2 tags and curveball impact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pact/docs/evidence/curveball-databricks-verification.json and curveball-local-comparison.json. Team-authored24-case fixture. All five exact local/cloud assertion signatures match. No speed or global coverage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constraint: Graph is evidence, not an oracle. Before-fix real-Graph test missed2failures. Implemented source precautions, resolution qualification, Git reconciliation, fallback to confirmed policies, context preservation. Source CURVEBALL.md and tests/test_curveball.py.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screenshot: pact/docs/evidence/d1-fallback-ui.png, captured from the real local product. Real44-frame walkthrough is linked in BUILDATHON.md. D2 correction has10passes,0failures; screenshot not a mockup.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22tests passed in13.08s; five post-Curveball Databricks jobs SUCCESS; independent final CP90d4a736f01e reviewed e3b512e. Original policy/pre-noon capture gaps remain. Public manifest and reports at github.com/Shaurya002800/entire-graph/tree/pact/implementation. Future expansion not 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cce60faf8046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a18d28ae424ad6" /><Relationship Type="http://schemas.openxmlformats.org/officeDocument/2006/relationships/slideLayout" Target="/ppt/slideLayouts/slideLayout1.xml" Id="R831e6d8bb8464f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1e6d8bb8464f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563b400fb4a18" /><Relationship Type="http://schemas.openxmlformats.org/officeDocument/2006/relationships/notesSlide" Target="/ppt/notesSlides/notesSlide1.xml" Id="R6d4bc1a726824b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681d779964621" /><Relationship Type="http://schemas.openxmlformats.org/officeDocument/2006/relationships/notesSlide" Target="/ppt/notesSlides/notesSlide2.xml" Id="R400f8a24d25841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93298dc344987" /><Relationship Type="http://schemas.openxmlformats.org/officeDocument/2006/relationships/notesSlide" Target="/ppt/notesSlides/notesSlide3.xml" Id="R86e6f323dbfd48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21ccb0f144214" /><Relationship Type="http://schemas.openxmlformats.org/officeDocument/2006/relationships/notesSlide" Target="/ppt/notesSlides/notesSlide4.xml" Id="R0edce366899b43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293206c224574" /><Relationship Type="http://schemas.openxmlformats.org/officeDocument/2006/relationships/image" Target="/ppt/media/image.jpeg" Id="R3441c56434a440bb" /><Relationship Type="http://schemas.openxmlformats.org/officeDocument/2006/relationships/notesSlide" Target="/ppt/notesSlides/notesSlide5.xml" Id="R14da305fb91543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ec74764314437" /><Relationship Type="http://schemas.openxmlformats.org/officeDocument/2006/relationships/notesSlide" Target="/ppt/notesSlides/notesSlide6.xml" Id="R15427afef7ce42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363605-E435-4206-ACBD-D8B2E703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PACT for Entire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4BDA98-FD57-403A-9461-4BDECB80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77E4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77E4BD"/>
                </a:solidFill>
                <a:latin typeface="Helvetica Neue"/>
                <a:ea typeface="Helvetica Neue"/>
                <a:cs typeface="Helvetica Neue"/>
              </a:rPr>
              <a:t>Evidence-backed regression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0193E-3C43-4A68-A6F9-5421A690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E7ED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E7EDF3"/>
                </a:solidFill>
                <a:latin typeface="Helvetica Neue"/>
                <a:ea typeface="Helvetica Neue"/>
                <a:cs typeface="Helvetica Neue"/>
              </a:rPr>
              <a:t>When the dependency graph is incomplete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8CA1C-699A-4511-9E2D-706A6FB1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7ED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7EDF3"/>
                </a:solidFill>
                <a:latin typeface="Helvetica Neue"/>
                <a:ea typeface="Helvetica Neue"/>
                <a:cs typeface="Helvetica Neue"/>
              </a:rPr>
              <a:t>Confirmed intent. Executed checks. Replayable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717DF-6B8E-493F-97FD-482728CA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0C0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B0C0CF"/>
                </a:solidFill>
                <a:latin typeface="Helvetica Neue"/>
                <a:ea typeface="Helvetica Neue"/>
                <a:cs typeface="Helvetica Neue"/>
              </a:rPr>
              <a:t>Shaurya  /  E2 - Build with Graph Intelligence</a:t>
            </a:r>
          </a:p>
        </p:txBody>
      </p:sp>
    </p:spTree>
    <p:extLst>
      <p:ext uri="{BB962C8B-B14F-4D97-AF65-F5344CB8AC3E}">
        <p14:creationId xmlns:p14="http://schemas.microsoft.com/office/powerpoint/2010/main" val="5496301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468359-6366-4C2E-A4C9-742F1098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unchanged caller still breaks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95E6E-77E9-4171-B694-0F23F676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E7ED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E7EDF3"/>
                </a:solidFill>
                <a:latin typeface="Helvetica Neue"/>
                <a:ea typeface="Helvetica Neue"/>
                <a:cs typeface="Helvetica Neue"/>
              </a:rPr>
              <a:t>A new public-preview feature changes a shared helper.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AC77B-BEB9-4083-A438-95FE460A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E7ED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E7EDF3"/>
                </a:solidFill>
                <a:latin typeface="Helvetica Neue"/>
                <a:ea typeface="Helvetica Neue"/>
                <a:cs typeface="Helvetica Neue"/>
              </a:rPr>
              <a:t>An unchanged export entrypoint inherits the regression.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48ACC-858D-4259-AB04-8D0F4FE5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B3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B3A7"/>
                </a:solidFill>
                <a:latin typeface="Helvetica Neue"/>
                <a:ea typeface="Helvetica Neue"/>
                <a:cs typeface="Helvetica Neue"/>
              </a:rPr>
              <a:t>Changed-file selection misses both guest-export failures.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E9D1E5-EA4A-4472-90D5-C3BDC6A6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7ED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7EDF3"/>
                </a:solidFill>
                <a:latin typeface="Helvetica Neue"/>
                <a:ea typeface="Helvetica Neue"/>
                <a:cs typeface="Helvetica Neue"/>
              </a:rPr>
              <a:t>PACT ties approved policy to structural evidence and checks actual behavior.</a:t>
            </a:r>
          </a:p>
        </p:txBody>
      </p:sp>
    </p:spTree>
    <p:extLst>
      <p:ext uri="{BB962C8B-B14F-4D97-AF65-F5344CB8AC3E}">
        <p14:creationId xmlns:p14="http://schemas.microsoft.com/office/powerpoint/2010/main" val="8057620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4CEF7-D334-494C-921D-8F8694A6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Measured detection, locally and on Databricks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38800"/>
                <a:gridCol w="2667000"/>
                <a:gridCol w="2667000"/>
              </a:tblGrid>
              <a:tr h="5397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E7ED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D0 → D1 strategy</a:t>
                      </a:r>
                    </a:p>
                  </a:txBody>
                  <a:tcPr marL="91440" marR="91440" marT="45720" marB="45720">
                    <a:solidFill>
                      <a:srgbClr val="263C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E7ED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Cases executed</a:t>
                      </a:r>
                    </a:p>
                  </a:txBody>
                  <a:tcPr marL="91440" marR="91440" marT="45720" marB="45720">
                    <a:solidFill>
                      <a:srgbClr val="263C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E7ED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Failures found</a:t>
                      </a:r>
                    </a:p>
                  </a:txBody>
                  <a:tcPr marL="91440" marR="91440" marT="45720" marB="45720">
                    <a:solidFill>
                      <a:srgbClr val="263C4D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E7ED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Changed file</a:t>
                      </a:r>
                    </a:p>
                  </a:txBody>
                  <a:tcPr marL="91440" marR="91440" marT="45720" marB="45720">
                    <a:solidFill>
                      <a:srgbClr val="101D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E7ED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101D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E7ED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101D2A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77E4B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Graph + fallback</a:t>
                      </a:r>
                    </a:p>
                  </a:txBody>
                  <a:tcPr marL="91440" marR="91440" marT="45720" marB="45720">
                    <a:solidFill>
                      <a:srgbClr val="101D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77E4B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101D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77E4B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101D2A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E7ED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All registered</a:t>
                      </a:r>
                    </a:p>
                  </a:txBody>
                  <a:tcPr marL="91440" marR="91440" marT="45720" marB="45720">
                    <a:solidFill>
                      <a:srgbClr val="101D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E7ED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101D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E7ED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101D2A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E7ED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Full matrix</a:t>
                      </a:r>
                    </a:p>
                  </a:txBody>
                  <a:tcPr marL="91440" marR="91440" marT="45720" marB="45720">
                    <a:solidFill>
                      <a:srgbClr val="101D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E7ED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</a:t>
                      </a:r>
                    </a:p>
                  </a:txBody>
                  <a:tcPr marL="91440" marR="91440" marT="45720" marB="45720">
                    <a:solidFill>
                      <a:srgbClr val="101D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E7ED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101D2A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E7ED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Corrected D2</a:t>
                      </a:r>
                    </a:p>
                  </a:txBody>
                  <a:tcPr marL="91440" marR="91440" marT="45720" marB="45720">
                    <a:solidFill>
                      <a:srgbClr val="101D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E7ED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101D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E7ED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 (10 pass)</a:t>
                      </a:r>
                    </a:p>
                  </a:txBody>
                  <a:tcPr marL="91440" marR="91440" marT="45720" marB="45720">
                    <a:solidFill>
                      <a:srgbClr val="101D2A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5733E-64C8-43CA-B2AC-49D6B22B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0C0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0C0CF"/>
                </a:solidFill>
                <a:latin typeface="Helvetica Neue"/>
                <a:ea typeface="Helvetica Neue"/>
                <a:cs typeface="Helvetica Neue"/>
              </a:rPr>
              <a:t>24-case synthetic fixture. Same confirmed policies. Exact assertion parity.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46406-70C2-41DA-B04B-09352F60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0C0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B0C0CF"/>
                </a:solidFill>
                <a:latin typeface="Helvetica Neue"/>
                <a:ea typeface="Helvetica Neue"/>
                <a:cs typeface="Helvetica Neue"/>
              </a:rPr>
              <a:t>The benefit demonstrated is detection, not faster execution or complete coverage.</a:t>
            </a:r>
          </a:p>
        </p:txBody>
      </p:sp>
    </p:spTree>
    <p:extLst>
      <p:ext uri="{BB962C8B-B14F-4D97-AF65-F5344CB8AC3E}">
        <p14:creationId xmlns:p14="http://schemas.microsoft.com/office/powerpoint/2010/main" val="13742856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4350E-1064-4B57-8E0B-7EA7F32A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Curveball: qualify uncertainty, then verify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39F263-5D04-46E0-A757-10B24B31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B3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B3A7"/>
                </a:solidFill>
                <a:latin typeface="Helvetica Neue"/>
                <a:ea typeface="Helvetica Neue"/>
                <a:cs typeface="Helvetica Neue"/>
              </a:rPr>
              <a:t>Dynamic dispatch can omit the relevant call edge.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7CAB3-6C53-43D5-AE40-A56B03CE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7ED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7EDF3"/>
                </a:solidFill>
                <a:latin typeface="Helvetica Neue"/>
                <a:ea typeface="Helvetica Neue"/>
                <a:cs typeface="Helvetica Neue"/>
              </a:rPr>
              <a:t>1  Keep confirmed structural paths and label heuristic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A0541-F9A3-4D2B-B86D-19582445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7ED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7EDF3"/>
                </a:solidFill>
                <a:latin typeface="Helvetica Neue"/>
                <a:ea typeface="Helvetica Neue"/>
                <a:cs typeface="Helvetica Neue"/>
              </a:rPr>
              <a:t>2  Mark incomplete analysis and run all registered approved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8FFAC-44DA-4B87-840D-4F9E869D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7ED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7EDF3"/>
                </a:solidFill>
                <a:latin typeface="Helvetica Neue"/>
                <a:ea typeface="Helvetica Neue"/>
                <a:cs typeface="Helvetica Neue"/>
              </a:rPr>
              <a:t>3  Preserve that context in the UI, replay and Delta receipts.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E3CECB-4379-442D-A1AD-4FE7E3F4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7E4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77E4BD"/>
                </a:solidFill>
                <a:latin typeface="Helvetica Neue"/>
                <a:ea typeface="Helvetica Neue"/>
                <a:cs typeface="Helvetica Neue"/>
              </a:rPr>
              <a:t>D2 can pass while analysis remains partial. No invented call path.</a:t>
            </a:r>
          </a:p>
        </p:txBody>
      </p:sp>
    </p:spTree>
    <p:extLst>
      <p:ext uri="{BB962C8B-B14F-4D97-AF65-F5344CB8AC3E}">
        <p14:creationId xmlns:p14="http://schemas.microsoft.com/office/powerpoint/2010/main" val="435670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3E47B-8BD4-453A-963D-71AAFD97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working review and correction flow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1c56434a440bb"/>
          <a:stretch xmlns:a="http://schemas.openxmlformats.org/drawingml/2006/main"/>
        </p:blipFill>
        <p:spPr>
          <a:xfrm xmlns:a="http://schemas.openxmlformats.org/drawingml/2006/main">
            <a:off x="874183" y="1485900"/>
            <a:ext cx="8043333" cy="45243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56BB8-86E2-497E-BFB6-9501ACA1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714500"/>
            <a:ext cx="21717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7ED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E7EDF3"/>
                </a:solidFill>
                <a:latin typeface="Helvetica Neue"/>
                <a:ea typeface="Helvetica Neue"/>
                <a:cs typeface="Helvetica Neue"/>
              </a:rPr>
              <a:t>Inspect intent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7ED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E7EDF3"/>
                </a:solidFill>
                <a:latin typeface="Helvetica Neue"/>
                <a:ea typeface="Helvetica Neue"/>
                <a:cs typeface="Helvetica Neue"/>
              </a:rPr>
              <a:t>Run D1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7ED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E7EDF3"/>
                </a:solidFill>
                <a:latin typeface="Helvetica Neue"/>
                <a:ea typeface="Helvetica Neue"/>
                <a:cs typeface="Helvetica Neue"/>
              </a:rPr>
              <a:t>Explain failures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7ED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E7EDF3"/>
                </a:solidFill>
                <a:latin typeface="Helvetica Neue"/>
                <a:ea typeface="Helvetica Neue"/>
                <a:cs typeface="Helvetica Neue"/>
              </a:rPr>
              <a:t>Review D2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7ED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E7EDF3"/>
                </a:solidFill>
                <a:latin typeface="Helvetica Neue"/>
                <a:ea typeface="Helvetica Neue"/>
                <a:cs typeface="Helvetica Neue"/>
              </a:rPr>
              <a:t>Replay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C2757-E002-4A1E-83C3-8386641B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0C0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B0C0CF"/>
                </a:solidFill>
                <a:latin typeface="Helvetica Neue"/>
                <a:ea typeface="Helvetica Neue"/>
                <a:cs typeface="Helvetica Neue"/>
              </a:rPr>
              <a:t>Actual local workbench capture; no generated UI.</a:t>
            </a:r>
          </a:p>
        </p:txBody>
      </p:sp>
    </p:spTree>
    <p:extLst>
      <p:ext uri="{BB962C8B-B14F-4D97-AF65-F5344CB8AC3E}">
        <p14:creationId xmlns:p14="http://schemas.microsoft.com/office/powerpoint/2010/main" val="9546080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62829C-C5B8-4EF3-9D30-A85F3A35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Verified implementation, inspectable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AF904D-AF63-413E-92DB-C93B4C82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77E4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77E4BD"/>
                </a:solidFill>
                <a:latin typeface="Helvetica Neue"/>
                <a:ea typeface="Helvetica Neue"/>
                <a:cs typeface="Helvetica Neue"/>
              </a:rPr>
              <a:t>22 passing tests   ·   5 successful cloud jobs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E6231D-286F-4EFB-A046-E0F1260A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7ED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E7EDF3"/>
                </a:solidFill>
                <a:latin typeface="Helvetica Neue"/>
                <a:ea typeface="Helvetica Neue"/>
                <a:cs typeface="Helvetica Neue"/>
              </a:rPr>
              <a:t>Clean installed replay; receipt integrity; idempotence; Delta recovery.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965CD-290D-440D-BA9E-9A9A12B0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7ED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E7EDF3"/>
                </a:solidFill>
                <a:latin typeface="Helvetica Neue"/>
                <a:ea typeface="Helvetica Neue"/>
                <a:cs typeface="Helvetica Neue"/>
              </a:rPr>
              <a:t>Authentic final-review Checkpoint: 90d4a736f01e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3787F4-E97E-4D7B-BD01-434456CA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0C0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0C0CF"/>
                </a:solidFill>
                <a:latin typeface="Helvetica Neue"/>
                <a:ea typeface="Helvetica Neue"/>
                <a:cs typeface="Helvetica Neue"/>
              </a:rPr>
              <a:t>Scope: registered-policy synthetic fixture. Historical policy/pre-noon capture gaps remain disclosed. Workspace jobs require permission; public reports and offline replay are available.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7FC05-9D2D-4CD4-9191-4E27085C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7E4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77E4BD"/>
                </a:solidFill>
                <a:latin typeface="Helvetica Neue"/>
                <a:ea typeface="Helvetica Neue"/>
                <a:cs typeface="Helvetica Neue"/>
              </a:rPr>
              <a:t>github.com/Shaurya002800/entire-graph/tree/pact/implementation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562860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2026-09-06T09:07:33.5200000Z</dcterms:created>
  <dcterms:modified xsi:type="dcterms:W3CDTF">2026-09-06T09:07:33.5200000Z</dcterms:modified>
</coreProperties>
</file>